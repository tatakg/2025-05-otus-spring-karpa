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88" r:id="rId9"/>
    <p:sldId id="306" r:id="rId10"/>
    <p:sldId id="261" r:id="rId11"/>
    <p:sldId id="302" r:id="rId12"/>
    <p:sldId id="262" r:id="rId13"/>
    <p:sldId id="305" r:id="rId14"/>
    <p:sldId id="303" r:id="rId15"/>
    <p:sldId id="299" r:id="rId16"/>
    <p:sldId id="263" r:id="rId17"/>
    <p:sldId id="264" r:id="rId18"/>
    <p:sldId id="265" r:id="rId19"/>
    <p:sldId id="266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Medium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70A035-4322-4FA3-BCD8-1C75D294F046}">
  <a:tblStyle styleId="{A970A035-4322-4FA3-BCD8-1C75D294F0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961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8126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9686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269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9816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{A970A035-4322-4FA3-BCD8-1C75D294F046}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{A970A035-4322-4FA3-BCD8-1C75D294F046}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512954" y="1140619"/>
            <a:ext cx="7584300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MVP </a:t>
            </a: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типовой Кулинарная книга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629700" y="4065108"/>
            <a:ext cx="2459494" cy="57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Разработчик на </a:t>
            </a:r>
            <a:r>
              <a:rPr lang="en-US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Spring Framework</a:t>
            </a:r>
            <a:endParaRPr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en-US" sz="3000" dirty="0"/>
              <a:t>MVP </a:t>
            </a:r>
            <a:r>
              <a:rPr lang="ru-RU" sz="3000" dirty="0"/>
              <a:t>типовой Кулинарная книга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>
          <a:blip r:embed="rId3"/>
          <a:srcRect t="12998" b="12998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399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Татьяна Карпа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90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Опытный 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ABAP-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разработчик (10+ лет стажа), начинающий разработчик 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Java Spring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1041969228"/>
              </p:ext>
            </p:extLst>
          </p:nvPr>
        </p:nvGraphicFramePr>
        <p:xfrm>
          <a:off x="952500" y="2382125"/>
          <a:ext cx="7211786" cy="2380719"/>
        </p:xfrm>
        <a:graphic>
          <a:graphicData uri="http://schemas.openxmlformats.org/drawingml/2006/table">
            <a:tbl>
              <a:tblPr>
                <a:noFill/>
                <a:tableStyleId>{A970A035-4322-4FA3-BCD8-1C75D294F046}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2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CRUD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рецептов, категорий, инвентаря</a:t>
                      </a: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комментирование рецептов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регистрацию и авторизацию пользователей с разделением прав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web-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интерфейс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Разработать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MVP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, представляющий собой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web-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приложение для управления рецептами, разработанное специально для обучающихся на кулинарных курсах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5677" y="1835904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8504" y="1816501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1330" y="1816501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Многослойная архитектура</a:t>
            </a:r>
            <a:endParaRPr dirty="0"/>
          </a:p>
        </p:txBody>
      </p:sp>
      <p:sp>
        <p:nvSpPr>
          <p:cNvPr id="512" name="Google Shape;512;p67"/>
          <p:cNvSpPr txBox="1"/>
          <p:nvPr/>
        </p:nvSpPr>
        <p:spPr>
          <a:xfrm>
            <a:off x="1134151" y="1925450"/>
            <a:ext cx="143191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Presentation layer</a:t>
            </a:r>
            <a:endParaRPr sz="1500"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28787" y="1884414"/>
            <a:ext cx="106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Business Layer</a:t>
            </a:r>
          </a:p>
        </p:txBody>
      </p:sp>
      <p:sp>
        <p:nvSpPr>
          <p:cNvPr id="514" name="Google Shape;514;p67"/>
          <p:cNvSpPr txBox="1"/>
          <p:nvPr/>
        </p:nvSpPr>
        <p:spPr>
          <a:xfrm>
            <a:off x="4609042" y="1870975"/>
            <a:ext cx="1469171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Data Access Layer</a:t>
            </a:r>
          </a:p>
        </p:txBody>
      </p:sp>
      <p:sp>
        <p:nvSpPr>
          <p:cNvPr id="515" name="Google Shape;515;p67"/>
          <p:cNvSpPr txBox="1"/>
          <p:nvPr/>
        </p:nvSpPr>
        <p:spPr>
          <a:xfrm>
            <a:off x="6471485" y="1866025"/>
            <a:ext cx="106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Domain Layer</a:t>
            </a:r>
          </a:p>
        </p:txBody>
      </p:sp>
      <p:graphicFrame>
        <p:nvGraphicFramePr>
          <p:cNvPr id="516" name="Google Shape;516;p67"/>
          <p:cNvGraphicFramePr/>
          <p:nvPr>
            <p:extLst>
              <p:ext uri="{D42A27DB-BD31-4B8C-83A1-F6EECF244321}">
                <p14:modId xmlns:p14="http://schemas.microsoft.com/office/powerpoint/2010/main" val="4133778285"/>
              </p:ext>
            </p:extLst>
          </p:nvPr>
        </p:nvGraphicFramePr>
        <p:xfrm>
          <a:off x="854500" y="2892482"/>
          <a:ext cx="7239000" cy="2064800"/>
        </p:xfrm>
        <a:graphic>
          <a:graphicData uri="http://schemas.openxmlformats.org/drawingml/2006/table">
            <a:tbl>
              <a:tblPr>
                <a:noFill/>
                <a:tableStyleId>{A970A035-4322-4FA3-BCD8-1C75D294F046}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Обработка HTTP запросов и формирование ответов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b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Компоненты: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Page Controllers (@Controller) </a:t>
                      </a:r>
                      <a:endParaRPr lang="ru-RU"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REST Controllers (@RestController)</a:t>
                      </a:r>
                      <a:endParaRPr lang="ru-RU"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GlobalExceptionHandler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Инкапсуляция бизнес-логики и правил приложения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Компоненты:</a:t>
                      </a:r>
                      <a:b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Сервисные классы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b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</a:b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Особенности: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Tx/>
                        <a:buChar char="-"/>
                      </a:pPr>
                      <a:r>
                        <a:rPr lang="ru-RU" sz="9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Транзакционность</a:t>
                      </a: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на уровне сервисов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Tx/>
                        <a:buChar char="-"/>
                      </a:pP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Бизнес-валидация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Tx/>
                        <a:buChar char="-"/>
                      </a:pP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Преобразование исключений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Абстракция для работы с базой данных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9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Компоненты:</a:t>
                      </a:r>
                      <a:b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</a:b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Spring Data JPA Repository </a:t>
                      </a: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интерфейсы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CustomRepository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для сложных запросов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Entity</a:t>
                      </a: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9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Graphs</a:t>
                      </a: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для оптимизации загрузки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Модель предметной области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9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Компоненты: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JPA </a:t>
                      </a:r>
                      <a:r>
                        <a:rPr lang="ru-RU" sz="9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Entity</a:t>
                      </a: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классы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Связи и ограничения базы данных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Многослойная архитектура</a:t>
            </a:r>
            <a:br>
              <a:rPr lang="ru" sz="3000" dirty="0"/>
            </a:br>
            <a:r>
              <a:rPr lang="ru" sz="2000" dirty="0"/>
              <a:t>(продолжение)</a:t>
            </a:r>
            <a:endParaRPr sz="2000" dirty="0"/>
          </a:p>
        </p:txBody>
      </p:sp>
      <p:sp>
        <p:nvSpPr>
          <p:cNvPr id="512" name="Google Shape;512;p67"/>
          <p:cNvSpPr txBox="1"/>
          <p:nvPr/>
        </p:nvSpPr>
        <p:spPr>
          <a:xfrm>
            <a:off x="1134151" y="1925450"/>
            <a:ext cx="143191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Infrastructure Layer</a:t>
            </a:r>
          </a:p>
        </p:txBody>
      </p:sp>
      <p:graphicFrame>
        <p:nvGraphicFramePr>
          <p:cNvPr id="516" name="Google Shape;516;p67"/>
          <p:cNvGraphicFramePr/>
          <p:nvPr>
            <p:extLst>
              <p:ext uri="{D42A27DB-BD31-4B8C-83A1-F6EECF244321}">
                <p14:modId xmlns:p14="http://schemas.microsoft.com/office/powerpoint/2010/main" val="3459740205"/>
              </p:ext>
            </p:extLst>
          </p:nvPr>
        </p:nvGraphicFramePr>
        <p:xfrm>
          <a:off x="854500" y="2892482"/>
          <a:ext cx="7239000" cy="1433864"/>
        </p:xfrm>
        <a:graphic>
          <a:graphicData uri="http://schemas.openxmlformats.org/drawingml/2006/table">
            <a:tbl>
              <a:tblPr>
                <a:noFill/>
                <a:tableStyleId>{A970A035-4322-4FA3-BCD8-1C75D294F046}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43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Вспомогательные компоненты и конфигурация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b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Компоненты: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Converters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DTO Objects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Config Classes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Message System  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Хранение информации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Компоненты: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Database</a:t>
                      </a:r>
                      <a:endParaRPr lang="ru-RU"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Static Files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Google Shape;508;p67">
            <a:extLst>
              <a:ext uri="{FF2B5EF4-FFF2-40B4-BE49-F238E27FC236}">
                <a16:creationId xmlns:a16="http://schemas.microsoft.com/office/drawing/2014/main" id="{A8842993-F241-F0DA-4A2F-6614E1D4B58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5677" y="1835904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3" name="Google Shape;513;p67">
            <a:extLst>
              <a:ext uri="{FF2B5EF4-FFF2-40B4-BE49-F238E27FC236}">
                <a16:creationId xmlns:a16="http://schemas.microsoft.com/office/drawing/2014/main" id="{64CD52DE-0D9B-DB9D-3BB9-909090BEC861}"/>
              </a:ext>
            </a:extLst>
          </p:cNvPr>
          <p:cNvSpPr txBox="1"/>
          <p:nvPr/>
        </p:nvSpPr>
        <p:spPr>
          <a:xfrm>
            <a:off x="3028787" y="1884414"/>
            <a:ext cx="106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Data Layer</a:t>
            </a:r>
          </a:p>
        </p:txBody>
      </p:sp>
    </p:spTree>
    <p:extLst>
      <p:ext uri="{BB962C8B-B14F-4D97-AF65-F5344CB8AC3E}">
        <p14:creationId xmlns:p14="http://schemas.microsoft.com/office/powerpoint/2010/main" val="10430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4229125207"/>
              </p:ext>
            </p:extLst>
          </p:nvPr>
        </p:nvGraphicFramePr>
        <p:xfrm>
          <a:off x="500550" y="1353489"/>
          <a:ext cx="7239000" cy="3369922"/>
        </p:xfrm>
        <a:graphic>
          <a:graphicData uri="http://schemas.openxmlformats.org/drawingml/2006/table">
            <a:tbl>
              <a:tblPr>
                <a:noFill/>
                <a:tableStyleId>{A970A035-4322-4FA3-BCD8-1C75D294F046}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Roboto"/>
                          <a:cs typeface="Arial"/>
                          <a:sym typeface="Roboto"/>
                        </a:rPr>
                        <a:t>Backend: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Roboto"/>
                          <a:cs typeface="Arial"/>
                          <a:sym typeface="Roboto"/>
                        </a:rPr>
                        <a:t>Spring Boot 3.3.2, Java 17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Roboto"/>
                          <a:cs typeface="Arial"/>
                          <a:sym typeface="Roboto"/>
                        </a:rPr>
                        <a:t>,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Roboto"/>
                          <a:cs typeface="Arial"/>
                          <a:sym typeface="Roboto"/>
                        </a:rPr>
                        <a:t>Lombok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Roboto"/>
                        <a:cs typeface="Arial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База данных: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H2 Database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Spring Data JPA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Hibernate 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Frontend: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Thymeleaf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HTML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CSS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JavaScript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Bootstrap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Roboto"/>
                          <a:cs typeface="Arial"/>
                          <a:sym typeface="Roboto"/>
                        </a:rPr>
                        <a:t>Безопасность: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Roboto"/>
                          <a:cs typeface="Arial"/>
                          <a:sym typeface="Roboto"/>
                        </a:rPr>
                        <a:t>Spring Security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Roboto"/>
                        <a:cs typeface="Arial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Roboto"/>
                        <a:cs typeface="Arial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Roboto"/>
                          <a:cs typeface="Arial"/>
                          <a:sym typeface="Roboto"/>
                        </a:rPr>
                        <a:t>Тестирование: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Spring Boot Test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Spring Security Test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JUnit 5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Mockito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Roboto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Инструменты разработки: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Maven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Checkstyle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Spring Boot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DevTools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Roboto"/>
                        <a:cs typeface="Arial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Схема БД и связи</a:t>
            </a:r>
            <a:endParaRPr dirty="0"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343435" y="1416099"/>
            <a:ext cx="4289526" cy="1908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users → authors (1:1) </a:t>
            </a:r>
            <a:b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authors → recipes (1:M</a:t>
            </a:r>
            <a: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b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categories → recipes (1:M)</a:t>
            </a:r>
            <a:b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recipes → </a:t>
            </a:r>
            <a:r>
              <a:rPr lang="en-US" sz="1400" b="0" dirty="0" err="1">
                <a:solidFill>
                  <a:srgbClr val="000000"/>
                </a:solidFill>
                <a:latin typeface="Arial"/>
                <a:cs typeface="Arial"/>
              </a:rPr>
              <a:t>recipe_ingredients</a:t>
            </a: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 (1:M)</a:t>
            </a:r>
            <a:b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recipes ↔ inventory (M:N)</a:t>
            </a:r>
            <a:b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recipes → comments (1:M</a:t>
            </a:r>
            <a: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b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users → comments (1:M)</a:t>
            </a:r>
            <a:br>
              <a:rPr lang="ru-RU" sz="14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users → </a:t>
            </a:r>
            <a:r>
              <a:rPr lang="en-US" sz="1400" b="0" dirty="0" err="1">
                <a:solidFill>
                  <a:srgbClr val="000000"/>
                </a:solidFill>
                <a:latin typeface="Arial"/>
                <a:cs typeface="Arial"/>
              </a:rPr>
              <a:t>user_roles</a:t>
            </a:r>
            <a:r>
              <a:rPr lang="en-US" sz="1400" b="0" dirty="0">
                <a:solidFill>
                  <a:srgbClr val="000000"/>
                </a:solidFill>
                <a:latin typeface="Arial"/>
                <a:cs typeface="Arial"/>
              </a:rPr>
              <a:t> (1:M) </a:t>
            </a:r>
            <a:endParaRPr sz="1300" b="0" dirty="0"/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Рисунок 2" descr="Изображение выглядит как текст, диаграмма, План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3F9DC70-50EA-694E-020B-A9D5E9692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098" y="0"/>
            <a:ext cx="38379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23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Структура проекта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F036B7-EC3B-8D30-105D-14178DC4D2D1}"/>
              </a:ext>
            </a:extLst>
          </p:cNvPr>
          <p:cNvSpPr/>
          <p:nvPr/>
        </p:nvSpPr>
        <p:spPr>
          <a:xfrm>
            <a:off x="595086" y="1124857"/>
            <a:ext cx="3432628" cy="544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Структура 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4850202-44E5-E86D-EB7E-4CAA047D185A}"/>
              </a:ext>
            </a:extLst>
          </p:cNvPr>
          <p:cNvSpPr/>
          <p:nvPr/>
        </p:nvSpPr>
        <p:spPr>
          <a:xfrm>
            <a:off x="1132073" y="1714521"/>
            <a:ext cx="3773709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config\ </a:t>
            </a:r>
            <a:r>
              <a:rPr lang="ru-RU" dirty="0"/>
              <a:t>Конфигурационные классы</a:t>
            </a:r>
            <a:r>
              <a:rPr lang="en-US" dirty="0"/>
              <a:t> </a:t>
            </a:r>
            <a:endParaRPr lang="ru-RU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92CC6DB-72CE-8DCB-0CDC-47C1BCE5CF62}"/>
              </a:ext>
            </a:extLst>
          </p:cNvPr>
          <p:cNvCxnSpPr>
            <a:cxnSpLocks/>
          </p:cNvCxnSpPr>
          <p:nvPr/>
        </p:nvCxnSpPr>
        <p:spPr>
          <a:xfrm>
            <a:off x="776514" y="1669143"/>
            <a:ext cx="0" cy="2768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735D71E-B39C-C99F-2181-37A2981882EF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761958" y="1841521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0B22DC9-8AA2-3A78-AA41-E6B64B3E5014}"/>
              </a:ext>
            </a:extLst>
          </p:cNvPr>
          <p:cNvSpPr/>
          <p:nvPr/>
        </p:nvSpPr>
        <p:spPr>
          <a:xfrm>
            <a:off x="1132073" y="2042064"/>
            <a:ext cx="3773713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controllers\ REST </a:t>
            </a:r>
            <a:r>
              <a:rPr lang="ru-RU" dirty="0"/>
              <a:t>и </a:t>
            </a:r>
            <a:r>
              <a:rPr lang="en-US" dirty="0"/>
              <a:t>page </a:t>
            </a:r>
            <a:r>
              <a:rPr lang="ru-RU" dirty="0"/>
              <a:t>контроллеры</a:t>
            </a:r>
            <a:r>
              <a:rPr lang="en-US" dirty="0"/>
              <a:t> 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B15DACA-1FDF-B4FD-A157-FCC1BAE5961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61958" y="2169064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754FA2E-EEDE-0641-E0D0-3EB30AA071A7}"/>
              </a:ext>
            </a:extLst>
          </p:cNvPr>
          <p:cNvSpPr/>
          <p:nvPr/>
        </p:nvSpPr>
        <p:spPr>
          <a:xfrm>
            <a:off x="1132077" y="2364794"/>
            <a:ext cx="3773705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services\ </a:t>
            </a:r>
            <a:r>
              <a:rPr lang="ru-RU" dirty="0"/>
              <a:t>Бизнес-логика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92C938A-F871-AB94-ECBD-50D9A97EB00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61962" y="2491794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1C4591E-C381-E24A-3AB7-36844EBE55E7}"/>
              </a:ext>
            </a:extLst>
          </p:cNvPr>
          <p:cNvSpPr/>
          <p:nvPr/>
        </p:nvSpPr>
        <p:spPr>
          <a:xfrm>
            <a:off x="1132083" y="2690671"/>
            <a:ext cx="3773699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repositories\ </a:t>
            </a:r>
            <a:r>
              <a:rPr lang="ru-RU" dirty="0"/>
              <a:t>Доступ к данным 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BE557DC-8029-AB85-CA0C-0E8BED00560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61968" y="2817671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ABD14CD-BCE9-68E9-5CD4-90AC03E933BB}"/>
              </a:ext>
            </a:extLst>
          </p:cNvPr>
          <p:cNvSpPr/>
          <p:nvPr/>
        </p:nvSpPr>
        <p:spPr>
          <a:xfrm>
            <a:off x="1132073" y="3013402"/>
            <a:ext cx="3773693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models\ </a:t>
            </a:r>
            <a:r>
              <a:rPr lang="ru-RU" dirty="0"/>
              <a:t>Сущности </a:t>
            </a:r>
            <a:r>
              <a:rPr lang="en-US" dirty="0"/>
              <a:t>JPA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B441AB53-799D-951B-673A-FDB9E3986430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61958" y="3140402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30237A2-D1F1-0802-DB88-DFB5318EBBFB}"/>
              </a:ext>
            </a:extLst>
          </p:cNvPr>
          <p:cNvSpPr/>
          <p:nvPr/>
        </p:nvSpPr>
        <p:spPr>
          <a:xfrm>
            <a:off x="1132087" y="3343452"/>
            <a:ext cx="3773679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dto</a:t>
            </a:r>
            <a:r>
              <a:rPr lang="en-US" dirty="0"/>
              <a:t>\ Data </a:t>
            </a:r>
            <a:r>
              <a:rPr lang="en-US" dirty="0" err="1"/>
              <a:t>Trasfer</a:t>
            </a:r>
            <a:r>
              <a:rPr lang="en-US" dirty="0"/>
              <a:t> Object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63AB37FD-07D9-1287-69FD-3D69BFFADCC6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61972" y="3470452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6ADACAA-39DD-951C-2C6D-0DEE9DC944F8}"/>
              </a:ext>
            </a:extLst>
          </p:cNvPr>
          <p:cNvSpPr/>
          <p:nvPr/>
        </p:nvSpPr>
        <p:spPr>
          <a:xfrm>
            <a:off x="1132073" y="3662008"/>
            <a:ext cx="3773669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converters\ </a:t>
            </a:r>
            <a:r>
              <a:rPr lang="ru-RU" dirty="0"/>
              <a:t>Конверторы сущностей 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F922AACB-007C-FD08-D770-28A84D970DD6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761958" y="3789008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616345F-CC80-1DC1-0E75-7F0E6243A4DC}"/>
              </a:ext>
            </a:extLst>
          </p:cNvPr>
          <p:cNvSpPr/>
          <p:nvPr/>
        </p:nvSpPr>
        <p:spPr>
          <a:xfrm>
            <a:off x="1132073" y="3976722"/>
            <a:ext cx="3773669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exceptions\ </a:t>
            </a:r>
            <a:r>
              <a:rPr lang="ru-RU" dirty="0" err="1"/>
              <a:t>Кастомные</a:t>
            </a:r>
            <a:r>
              <a:rPr lang="ru-RU" dirty="0"/>
              <a:t> исключения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CE91349D-44EA-C566-D97A-6AC30D324FDE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61958" y="4103722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DDFF554-C821-168A-988F-DC047823E1F5}"/>
              </a:ext>
            </a:extLst>
          </p:cNvPr>
          <p:cNvSpPr/>
          <p:nvPr/>
        </p:nvSpPr>
        <p:spPr>
          <a:xfrm>
            <a:off x="1132073" y="4310613"/>
            <a:ext cx="3773669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utils\</a:t>
            </a:r>
            <a:r>
              <a:rPr lang="ru-RU" dirty="0"/>
              <a:t> Утилиты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127C5680-E75E-8F5B-8924-0827C0DF1321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761958" y="4437613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Frontend</a:t>
            </a:r>
            <a:r>
              <a:rPr lang="ru-RU" sz="3000" dirty="0"/>
              <a:t> организация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F036B7-EC3B-8D30-105D-14178DC4D2D1}"/>
              </a:ext>
            </a:extLst>
          </p:cNvPr>
          <p:cNvSpPr/>
          <p:nvPr/>
        </p:nvSpPr>
        <p:spPr>
          <a:xfrm>
            <a:off x="595086" y="1124857"/>
            <a:ext cx="3432628" cy="544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templates</a:t>
            </a:r>
            <a:r>
              <a:rPr lang="ru-RU" dirty="0"/>
              <a:t>\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4850202-44E5-E86D-EB7E-4CAA047D185A}"/>
              </a:ext>
            </a:extLst>
          </p:cNvPr>
          <p:cNvSpPr/>
          <p:nvPr/>
        </p:nvSpPr>
        <p:spPr>
          <a:xfrm>
            <a:off x="1132073" y="1714521"/>
            <a:ext cx="4100327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fragments\ </a:t>
            </a:r>
            <a:r>
              <a:rPr lang="ru-RU" dirty="0"/>
              <a:t> </a:t>
            </a:r>
            <a:r>
              <a:rPr lang="ru-RU" dirty="0" err="1"/>
              <a:t>Переиспользуемые</a:t>
            </a:r>
            <a:r>
              <a:rPr lang="ru-RU" dirty="0"/>
              <a:t> компоненты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92CC6DB-72CE-8DCB-0CDC-47C1BCE5CF62}"/>
              </a:ext>
            </a:extLst>
          </p:cNvPr>
          <p:cNvCxnSpPr>
            <a:cxnSpLocks/>
          </p:cNvCxnSpPr>
          <p:nvPr/>
        </p:nvCxnSpPr>
        <p:spPr>
          <a:xfrm>
            <a:off x="776514" y="1669143"/>
            <a:ext cx="0" cy="822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735D71E-B39C-C99F-2181-37A2981882EF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761958" y="1841521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0B22DC9-8AA2-3A78-AA41-E6B64B3E5014}"/>
              </a:ext>
            </a:extLst>
          </p:cNvPr>
          <p:cNvSpPr/>
          <p:nvPr/>
        </p:nvSpPr>
        <p:spPr>
          <a:xfrm>
            <a:off x="1132029" y="2029235"/>
            <a:ext cx="4100324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admin\ </a:t>
            </a:r>
            <a:r>
              <a:rPr lang="ru-RU" dirty="0" err="1"/>
              <a:t>Админские</a:t>
            </a:r>
            <a:r>
              <a:rPr lang="ru-RU" dirty="0"/>
              <a:t> страницы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B15DACA-1FDF-B4FD-A157-FCC1BAE5961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61914" y="2156235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754FA2E-EEDE-0641-E0D0-3EB30AA071A7}"/>
              </a:ext>
            </a:extLst>
          </p:cNvPr>
          <p:cNvSpPr/>
          <p:nvPr/>
        </p:nvSpPr>
        <p:spPr>
          <a:xfrm>
            <a:off x="1132077" y="2364794"/>
            <a:ext cx="4100274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Пользовательские страницы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92C938A-F871-AB94-ECBD-50D9A97EB00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61962" y="2491794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30237A2-D1F1-0802-DB88-DFB5318EBBFB}"/>
              </a:ext>
            </a:extLst>
          </p:cNvPr>
          <p:cNvSpPr/>
          <p:nvPr/>
        </p:nvSpPr>
        <p:spPr>
          <a:xfrm>
            <a:off x="1132087" y="3343452"/>
            <a:ext cx="3773679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css</a:t>
            </a:r>
            <a:r>
              <a:rPr lang="en-US" dirty="0"/>
              <a:t>\ </a:t>
            </a:r>
            <a:r>
              <a:rPr lang="ru-RU" dirty="0"/>
              <a:t>Стили (</a:t>
            </a:r>
            <a:r>
              <a:rPr lang="en-US" dirty="0"/>
              <a:t>Bootstrap + </a:t>
            </a:r>
            <a:r>
              <a:rPr lang="ru-RU" dirty="0"/>
              <a:t>пользовательские)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63AB37FD-07D9-1287-69FD-3D69BFFADCC6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61972" y="3470452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6ADACAA-39DD-951C-2C6D-0DEE9DC944F8}"/>
              </a:ext>
            </a:extLst>
          </p:cNvPr>
          <p:cNvSpPr/>
          <p:nvPr/>
        </p:nvSpPr>
        <p:spPr>
          <a:xfrm>
            <a:off x="1132073" y="3662008"/>
            <a:ext cx="3773669" cy="2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js</a:t>
            </a:r>
            <a:r>
              <a:rPr lang="en-US" dirty="0"/>
              <a:t>\ </a:t>
            </a:r>
            <a:r>
              <a:rPr lang="ru-RU" dirty="0"/>
              <a:t>Модульные </a:t>
            </a:r>
            <a:r>
              <a:rPr lang="en-US" dirty="0"/>
              <a:t>JS </a:t>
            </a:r>
            <a:r>
              <a:rPr lang="ru-RU" dirty="0"/>
              <a:t>файлы 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F922AACB-007C-FD08-D770-28A84D970DD6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761958" y="3789008"/>
            <a:ext cx="370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61BBAFD-D39C-976B-BAF9-651892CACAFB}"/>
              </a:ext>
            </a:extLst>
          </p:cNvPr>
          <p:cNvSpPr/>
          <p:nvPr/>
        </p:nvSpPr>
        <p:spPr>
          <a:xfrm>
            <a:off x="595086" y="2708979"/>
            <a:ext cx="3432628" cy="544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static</a:t>
            </a:r>
            <a:r>
              <a:rPr lang="ru-RU" dirty="0"/>
              <a:t>\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56CAF86-282E-5584-0334-49ED662D1274}"/>
              </a:ext>
            </a:extLst>
          </p:cNvPr>
          <p:cNvCxnSpPr>
            <a:cxnSpLocks/>
          </p:cNvCxnSpPr>
          <p:nvPr/>
        </p:nvCxnSpPr>
        <p:spPr>
          <a:xfrm>
            <a:off x="761914" y="3154071"/>
            <a:ext cx="0" cy="634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587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Матрица доступов</a:t>
            </a:r>
            <a:endParaRPr dirty="0"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18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b="1" dirty="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Публичный доступ: 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просмотр опубликованных рецептов, поиск, категории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b="1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Аутентифицированные пользователи: 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создание/редактирование своих рецептов, комментарии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b="1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Администраторы: 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управление категориями, инвентарем, удаление рецептов, просмотр списка пользователей</a:t>
            </a: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36677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7BF05F-4FA0-2873-126D-3D1A12EB1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980569"/>
            <a:ext cx="5242202" cy="31823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32F644-94FD-D20F-1F98-C550993B3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841" y="980570"/>
            <a:ext cx="1958340" cy="13548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A0D66F-DFB8-0081-1819-C48BB1BDD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841" y="2461260"/>
            <a:ext cx="2293620" cy="19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40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" name="Google Shape;186;p39">
            <a:extLst>
              <a:ext uri="{FF2B5EF4-FFF2-40B4-BE49-F238E27FC236}">
                <a16:creationId xmlns:a16="http://schemas.microsoft.com/office/drawing/2014/main" id="{D9900F41-17D3-EA3D-42B6-CD0A2F248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7542865"/>
              </p:ext>
            </p:extLst>
          </p:nvPr>
        </p:nvGraphicFramePr>
        <p:xfrm>
          <a:off x="500550" y="1496754"/>
          <a:ext cx="7211786" cy="2150722"/>
        </p:xfrm>
        <a:graphic>
          <a:graphicData uri="http://schemas.openxmlformats.org/drawingml/2006/table">
            <a:tbl>
              <a:tblPr>
                <a:noFill/>
                <a:tableStyleId>{A970A035-4322-4FA3-BCD8-1C75D294F046}</a:tableStyleId>
              </a:tblPr>
              <a:tblGrid>
                <a:gridCol w="87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0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Применены различные паттерны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Была реализована многослойная структура 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Реализован достаточный функционал и есть точки развития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525</Words>
  <Application>Microsoft Office PowerPoint</Application>
  <PresentationFormat>Экран (16:9)</PresentationFormat>
  <Paragraphs>123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Roboto Medium</vt:lpstr>
      <vt:lpstr>Arial</vt:lpstr>
      <vt:lpstr>Roboto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MVP типовой Кулинарная книга   </vt:lpstr>
      <vt:lpstr>План защиты</vt:lpstr>
      <vt:lpstr>Презентация PowerPoint</vt:lpstr>
      <vt:lpstr>Многослойная архитектура</vt:lpstr>
      <vt:lpstr>Многослойная архитектура (продолжение)</vt:lpstr>
      <vt:lpstr>Какие технологии использовались </vt:lpstr>
      <vt:lpstr>Схема БД и связи</vt:lpstr>
      <vt:lpstr>Структура проекта</vt:lpstr>
      <vt:lpstr>Frontend организация</vt:lpstr>
      <vt:lpstr>Матрица доступов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Татьяна Карпа</cp:lastModifiedBy>
  <cp:revision>15</cp:revision>
  <dcterms:modified xsi:type="dcterms:W3CDTF">2025-11-21T19:11:01Z</dcterms:modified>
</cp:coreProperties>
</file>